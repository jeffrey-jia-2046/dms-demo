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70" r:id="rId4"/>
    <p:sldMasterId id="2147483677" r:id="rId5"/>
    <p:sldMasterId id="2147483681" r:id="rId6"/>
    <p:sldMasterId id="2147483683" r:id="rId7"/>
    <p:sldMasterId id="2147483691" r:id="rId8"/>
    <p:sldMasterId id="2147483699" r:id="rId9"/>
    <p:sldMasterId id="2147483707" r:id="rId10"/>
    <p:sldMasterId id="2147483715" r:id="rId11"/>
    <p:sldMasterId id="2147483723" r:id="rId12"/>
    <p:sldMasterId id="2147483731" r:id="rId13"/>
    <p:sldMasterId id="2147483739" r:id="rId14"/>
  </p:sldMasterIdLst>
  <p:notesMasterIdLst>
    <p:notesMasterId r:id="rId18"/>
  </p:notesMasterIdLst>
  <p:handoutMasterIdLst>
    <p:handoutMasterId r:id="rId34"/>
  </p:handoutMasterIdLst>
  <p:sldIdLst>
    <p:sldId id="343" r:id="rId15"/>
    <p:sldId id="365" r:id="rId16"/>
    <p:sldId id="383" r:id="rId17"/>
    <p:sldId id="364" r:id="rId19"/>
    <p:sldId id="366" r:id="rId20"/>
    <p:sldId id="406" r:id="rId21"/>
    <p:sldId id="407" r:id="rId22"/>
    <p:sldId id="408" r:id="rId23"/>
    <p:sldId id="409" r:id="rId24"/>
    <p:sldId id="410" r:id="rId25"/>
    <p:sldId id="411" r:id="rId26"/>
    <p:sldId id="416" r:id="rId27"/>
    <p:sldId id="412" r:id="rId28"/>
    <p:sldId id="413" r:id="rId29"/>
    <p:sldId id="418" r:id="rId30"/>
    <p:sldId id="417" r:id="rId31"/>
    <p:sldId id="325" r:id="rId32"/>
    <p:sldId id="279" r:id="rId33"/>
  </p:sldIdLst>
  <p:sldSz cx="9144000" cy="5143500" type="screen16x9"/>
  <p:notesSz cx="6858000" cy="9144000"/>
  <p:custDataLst>
    <p:tags r:id="rId3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5AAA"/>
    <a:srgbClr val="465A6E"/>
    <a:srgbClr val="F7F7F7"/>
    <a:srgbClr val="FFFFFF"/>
    <a:srgbClr val="373737"/>
    <a:srgbClr val="A4A4A4"/>
    <a:srgbClr val="C5C5C5"/>
    <a:srgbClr val="D7DEE5"/>
    <a:srgbClr val="AEB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5158" autoAdjust="0"/>
  </p:normalViewPr>
  <p:slideViewPr>
    <p:cSldViewPr>
      <p:cViewPr varScale="1">
        <p:scale>
          <a:sx n="116" d="100"/>
          <a:sy n="116" d="100"/>
        </p:scale>
        <p:origin x="6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84" y="76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2F159-0795-400A-ADEA-AD454C9E6C4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B7DBF-7562-4C0C-8DED-D8962C01DD1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0BD2D-B7C1-40B5-861F-B51231545FDF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Building dataset &gt; update BR year built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List of Demolished Buildings &gt; update BR status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Index of OC &gt; update name of Owners’ Corporations (OC) </a:t>
            </a:r>
            <a:r>
              <a:rPr lang="zh-TW" altLang="en-US" dirty="0"/>
              <a:t>業主立案法團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Text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1278001"/>
            <a:ext cx="3755260" cy="3494025"/>
          </a:xfrm>
          <a:prstGeom prst="rect">
            <a:avLst/>
          </a:prstGeom>
        </p:spPr>
        <p:txBody>
          <a:bodyPr/>
          <a:lstStyle>
            <a:lvl3pPr marL="202565" indent="-202565">
              <a:defRPr/>
            </a:lvl3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989260" y="1278001"/>
            <a:ext cx="3731633" cy="349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pic>
        <p:nvPicPr>
          <p:cNvPr id="1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 marL="202565" indent="-202565">
              <a:buClr>
                <a:schemeClr val="bg2"/>
              </a:buClr>
              <a:buFontTx/>
              <a:defRPr>
                <a:solidFill>
                  <a:schemeClr val="bg2"/>
                </a:solidFill>
              </a:defRPr>
            </a:lvl3pPr>
            <a:lvl4pPr marL="404495" indent="-202565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marL="607060" indent="-202565">
              <a:buClr>
                <a:schemeClr val="bg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3852000" y="-668250"/>
            <a:ext cx="2520000" cy="7181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/>
          <a:p>
            <a:pPr algn="l">
              <a:spcBef>
                <a:spcPts val="2200"/>
              </a:spcBef>
            </a:pPr>
            <a:endParaRPr lang="en-US" sz="40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832411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110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4"/>
          </p:nvPr>
        </p:nvSpPr>
        <p:spPr>
          <a:xfrm>
            <a:off x="5815617" y="0"/>
            <a:ext cx="3337120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3" y="1249201"/>
            <a:ext cx="459094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459510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4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1" y="309001"/>
            <a:ext cx="4587805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328384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39406" y="1249201"/>
            <a:ext cx="458148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40001" y="648000"/>
            <a:ext cx="4576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4140001" y="309001"/>
            <a:ext cx="4580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114000"/>
            <a:ext cx="8316812" cy="1658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00150" y="1102576"/>
            <a:ext cx="4171850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572297" y="1102576"/>
            <a:ext cx="4144666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 (text +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9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6590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36034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46849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65347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452640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>
            <a:off x="4569813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6686756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2537888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4644892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1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758335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(text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16590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098714" y="142574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284257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3356922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pic>
        <p:nvPicPr>
          <p:cNvPr id="2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8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3348704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6272569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(Data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62837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81283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15964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562837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2603695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2538376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720626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4655308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6824500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6759183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4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268525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480218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6906056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pic>
        <p:nvPicPr>
          <p:cNvPr id="4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2678405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7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4800326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6905342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mn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283361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11166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41317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41317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1317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H="1">
            <a:off x="411166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411166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497460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57" name="Straight Connector 56"/>
          <p:cNvCxnSpPr/>
          <p:nvPr userDrawn="1"/>
        </p:nvCxnSpPr>
        <p:spPr>
          <a:xfrm flipH="1">
            <a:off x="4972597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497460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97460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497460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64" name="Straight Connector 63"/>
          <p:cNvCxnSpPr/>
          <p:nvPr userDrawn="1"/>
        </p:nvCxnSpPr>
        <p:spPr>
          <a:xfrm flipH="1">
            <a:off x="4972597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 userDrawn="1"/>
        </p:nvCxnSpPr>
        <p:spPr>
          <a:xfrm flipH="1">
            <a:off x="4972597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283361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3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1283361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1283361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0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5842783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1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5842783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2" name="Text Placeholder 8"/>
          <p:cNvSpPr>
            <a:spLocks noGrp="1"/>
          </p:cNvSpPr>
          <p:nvPr>
            <p:ph type="body" sz="quarter" idx="46" hasCustomPrompt="1"/>
          </p:nvPr>
        </p:nvSpPr>
        <p:spPr>
          <a:xfrm>
            <a:off x="5842783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3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5842783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4"/>
          </p:nvPr>
        </p:nvSpPr>
        <p:spPr>
          <a:xfrm>
            <a:off x="413174" y="1846303"/>
            <a:ext cx="8297090" cy="200060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596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pic>
        <p:nvPicPr>
          <p:cNvPr id="31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61022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4" hasCustomPrompt="1"/>
          </p:nvPr>
        </p:nvSpPr>
        <p:spPr>
          <a:xfrm>
            <a:off x="280448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399873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519299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6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38725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7581507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8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5"/>
          <p:cNvSpPr>
            <a:spLocks noGrp="1"/>
          </p:cNvSpPr>
          <p:nvPr>
            <p:ph type="tbl" sz="quarter" idx="15"/>
          </p:nvPr>
        </p:nvSpPr>
        <p:spPr>
          <a:xfrm>
            <a:off x="413175" y="1112520"/>
            <a:ext cx="8303788" cy="329596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6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1817319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3229150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464097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05280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9" hasCustomPrompt="1"/>
          </p:nvPr>
        </p:nvSpPr>
        <p:spPr>
          <a:xfrm>
            <a:off x="746463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8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0015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1" hasCustomPrompt="1"/>
          </p:nvPr>
        </p:nvSpPr>
        <p:spPr>
          <a:xfrm>
            <a:off x="181198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3223811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463563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604746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3" name="Picture Placeholder 6"/>
          <p:cNvSpPr>
            <a:spLocks noGrp="1"/>
          </p:cNvSpPr>
          <p:nvPr>
            <p:ph type="pic" sz="quarter" idx="35" hasCustomPrompt="1"/>
          </p:nvPr>
        </p:nvSpPr>
        <p:spPr>
          <a:xfrm>
            <a:off x="745929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0015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7" name="Picture Placeholder 6"/>
          <p:cNvSpPr>
            <a:spLocks noGrp="1"/>
          </p:cNvSpPr>
          <p:nvPr>
            <p:ph type="pic" sz="quarter" idx="37" hasCustomPrompt="1"/>
          </p:nvPr>
        </p:nvSpPr>
        <p:spPr>
          <a:xfrm>
            <a:off x="181198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8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223811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9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463563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0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04746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745929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2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40015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181198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4" name="Picture Placeholder 6"/>
          <p:cNvSpPr>
            <a:spLocks noGrp="1"/>
          </p:cNvSpPr>
          <p:nvPr>
            <p:ph type="pic" sz="quarter" idx="44" hasCustomPrompt="1"/>
          </p:nvPr>
        </p:nvSpPr>
        <p:spPr>
          <a:xfrm>
            <a:off x="3223811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5" name="Picture Placeholder 6"/>
          <p:cNvSpPr>
            <a:spLocks noGrp="1"/>
          </p:cNvSpPr>
          <p:nvPr>
            <p:ph type="pic" sz="quarter" idx="45" hasCustomPrompt="1"/>
          </p:nvPr>
        </p:nvSpPr>
        <p:spPr>
          <a:xfrm>
            <a:off x="463563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6" name="Picture Placeholder 6"/>
          <p:cNvSpPr>
            <a:spLocks noGrp="1"/>
          </p:cNvSpPr>
          <p:nvPr>
            <p:ph type="pic" sz="quarter" idx="46" hasCustomPrompt="1"/>
          </p:nvPr>
        </p:nvSpPr>
        <p:spPr>
          <a:xfrm>
            <a:off x="604746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7" name="Picture Placeholder 6"/>
          <p:cNvSpPr>
            <a:spLocks noGrp="1"/>
          </p:cNvSpPr>
          <p:nvPr>
            <p:ph type="pic" sz="quarter" idx="47" hasCustomPrompt="1"/>
          </p:nvPr>
        </p:nvSpPr>
        <p:spPr>
          <a:xfrm>
            <a:off x="745929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pic>
        <p:nvPicPr>
          <p:cNvPr id="70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18881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thcare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education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aviation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SFI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BFSI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vernment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government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95445" y="1908057"/>
            <a:ext cx="6048000" cy="378000"/>
          </a:xfr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 dirty="0"/>
              <a:t>&lt;XXXX&gt; sector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Development (Dev)</a:t>
            </a:r>
            <a:endParaRPr lang="en-US" dirty="0"/>
          </a:p>
          <a:p>
            <a:pPr lvl="1"/>
            <a:r>
              <a:rPr lang="en-US" dirty="0">
                <a:solidFill>
                  <a:schemeClr val="bg1"/>
                </a:solidFill>
              </a:rPr>
              <a:t>A solution innovator in offering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holistic business solutions to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accelerate customers’ digital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transformation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2" name="Picture Placeholder 8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Security (Sec)</a:t>
            </a:r>
            <a:endParaRPr lang="en-US" dirty="0"/>
          </a:p>
          <a:p>
            <a:pPr lvl="1"/>
            <a:r>
              <a:rPr lang="en-US" dirty="0"/>
              <a:t>A market-leading expert specialized</a:t>
            </a:r>
            <a:br>
              <a:rPr lang="en-US" dirty="0"/>
            </a:br>
            <a:r>
              <a:rPr lang="en-US" dirty="0"/>
              <a:t>in digital asset protection and risks prevention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Operations (Ops)</a:t>
            </a:r>
            <a:endParaRPr lang="en-US" dirty="0"/>
          </a:p>
          <a:p>
            <a:pPr lvl="1"/>
            <a:r>
              <a:rPr lang="en-US" dirty="0"/>
              <a:t>A local managed service leader with world-class, industry-specific and</a:t>
            </a:r>
            <a:br>
              <a:rPr lang="en-US" dirty="0"/>
            </a:br>
            <a:r>
              <a:rPr lang="en-US" dirty="0"/>
              <a:t>end-to-end services to manage</a:t>
            </a:r>
            <a:br>
              <a:rPr lang="en-US" dirty="0"/>
            </a:br>
            <a:r>
              <a:rPr lang="en-US" dirty="0"/>
              <a:t>clients’ IT infrastructure to cloud</a:t>
            </a:r>
            <a:br>
              <a:rPr lang="en-US" dirty="0"/>
            </a:br>
            <a:r>
              <a:rPr lang="en-US" dirty="0"/>
              <a:t>platform in entire IT lifecycle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1108633"/>
            <a:ext cx="1524035" cy="1093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005AAA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3528" y="1108633"/>
            <a:ext cx="1524035" cy="10931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45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95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052D5F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048219" y="1108633"/>
            <a:ext cx="1524035" cy="10931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135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0087FF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571747" y="1108633"/>
            <a:ext cx="1524035" cy="10931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00B9FF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857" y="1108633"/>
            <a:ext cx="1524035" cy="1093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110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465A6E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7619966" y="1108633"/>
            <a:ext cx="1524035" cy="1093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DBDBDB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6095857" y="2201780"/>
            <a:ext cx="1524035" cy="739943"/>
          </a:xfrm>
          <a:prstGeom prst="rect">
            <a:avLst/>
          </a:prstGeom>
          <a:solidFill>
            <a:srgbClr val="869C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134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156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869CB2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7619966" y="2201780"/>
            <a:ext cx="1524035" cy="739943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C5C5C5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2201780"/>
            <a:ext cx="1524035" cy="1109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119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191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77BFFF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1523528" y="2201780"/>
            <a:ext cx="1524035" cy="1109367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9EC7FA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3048219" y="2201780"/>
            <a:ext cx="1524035" cy="1109367"/>
          </a:xfrm>
          <a:prstGeom prst="rect">
            <a:avLst/>
          </a:prstGeom>
          <a:solidFill>
            <a:srgbClr val="99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207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99CFFF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571747" y="2201780"/>
            <a:ext cx="1524035" cy="1109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227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99E3FF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3307865"/>
            <a:ext cx="1524035" cy="1109367"/>
          </a:xfrm>
          <a:prstGeom prst="rect">
            <a:avLst/>
          </a:prstGeom>
          <a:solidFill>
            <a:srgbClr val="BB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187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BBDFFF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523528" y="3307865"/>
            <a:ext cx="1524035" cy="110936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216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D8E8FD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48219" y="3307865"/>
            <a:ext cx="1524035" cy="1109367"/>
          </a:xfrm>
          <a:prstGeom prst="rect">
            <a:avLst/>
          </a:prstGeom>
          <a:solidFill>
            <a:srgbClr val="CCE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CCE7FF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571747" y="3307865"/>
            <a:ext cx="1524035" cy="1109367"/>
          </a:xfrm>
          <a:prstGeom prst="rect">
            <a:avLst/>
          </a:prstGeom>
          <a:solidFill>
            <a:srgbClr val="CC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241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CCF1FF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6095857" y="2939535"/>
            <a:ext cx="1524035" cy="739943"/>
          </a:xfrm>
          <a:prstGeom prst="rect">
            <a:avLst/>
          </a:prstGeom>
          <a:solidFill>
            <a:srgbClr val="AEB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174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204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AEBDCC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7619966" y="2939535"/>
            <a:ext cx="1524035" cy="739943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A4A4A4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6095857" y="3677289"/>
            <a:ext cx="1524035" cy="739943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229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D7DEE5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619966" y="3677289"/>
            <a:ext cx="1524035" cy="739943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373737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" name="Title Placeholder 18"/>
          <p:cNvSpPr txBox="1"/>
          <p:nvPr userDrawn="1"/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1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100" dirty="0"/>
              <a:t>Color palette</a:t>
            </a:r>
            <a:endParaRPr lang="en-US" sz="2100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1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theme" Target="../theme/theme13.xml"/><Relationship Id="rId7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20963" cy="34940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6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0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4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8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4000" y="951750"/>
            <a:ext cx="8496000" cy="3240000"/>
          </a:xfrm>
        </p:spPr>
        <p:txBody>
          <a:bodyPr>
            <a:normAutofit/>
          </a:bodyPr>
          <a:lstStyle/>
          <a:p>
            <a:r>
              <a:rPr lang="en-US" altLang="zh-CN" sz="2200" dirty="0">
                <a:solidFill>
                  <a:srgbClr val="0070C0"/>
                </a:solidFill>
                <a:sym typeface="+mn-ea"/>
              </a:rPr>
              <a:t>The Presentation of Enterprise Content Management Solution</a:t>
            </a:r>
            <a:endParaRPr lang="en-US" sz="2200" dirty="0">
              <a:solidFill>
                <a:srgbClr val="0070C0"/>
              </a:solidFill>
            </a:endParaRPr>
          </a:p>
          <a:p>
            <a:r>
              <a:rPr lang="en-US" sz="2200" dirty="0"/>
              <a:t> </a:t>
            </a:r>
            <a:endParaRPr lang="en-US" sz="2200" dirty="0"/>
          </a:p>
          <a:p>
            <a:r>
              <a:rPr lang="en-US" altLang="en-US" dirty="0">
                <a:solidFill>
                  <a:srgbClr val="0070C0"/>
                </a:solidFill>
                <a:sym typeface="+mn-ea"/>
              </a:rPr>
              <a:t>Automated </a:t>
            </a:r>
            <a:r>
              <a:rPr lang="en-US" dirty="0">
                <a:solidFill>
                  <a:srgbClr val="0070C0"/>
                </a:solidFill>
                <a:sym typeface="+mn-ea"/>
              </a:rPr>
              <a:t>Smart ECM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Presented by: ASL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M</a:t>
            </a:r>
            <a:r>
              <a:rPr lang="en-US" altLang="zh-CN" sz="1600" b="0" dirty="0">
                <a:solidFill>
                  <a:schemeClr val="tx2"/>
                </a:solidFill>
              </a:rPr>
              <a:t>arch 202</a:t>
            </a:r>
            <a:r>
              <a:rPr lang="en-US" altLang="en-US" sz="1600" b="0" dirty="0">
                <a:solidFill>
                  <a:schemeClr val="tx2"/>
                </a:solidFill>
              </a:rPr>
              <a:t>6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6679" y="771705"/>
            <a:ext cx="8304213" cy="3600588"/>
          </a:xfrm>
        </p:spPr>
        <p:txBody>
          <a:bodyPr>
            <a:normAutofit/>
          </a:bodyPr>
          <a:lstStyle/>
          <a:p>
            <a:r>
              <a:rPr lang="en-US" altLang="en-US" dirty="0"/>
              <a:t>Major Features</a:t>
            </a:r>
            <a:endParaRPr lang="en-US" dirty="0"/>
          </a:p>
          <a:p>
            <a:r>
              <a:rPr lang="en-US" dirty="0"/>
              <a:t>DMS Functionality</a:t>
            </a:r>
            <a:endParaRPr lang="en-US" altLang="en-US" dirty="0">
              <a:sym typeface="+mn-ea"/>
            </a:endParaRPr>
          </a:p>
          <a:p>
            <a:r>
              <a:rPr lang="en-US" altLang="en-US" dirty="0"/>
              <a:t>Deployment</a:t>
            </a:r>
            <a:endParaRPr lang="en-US" altLang="en-US" dirty="0"/>
          </a:p>
          <a:p>
            <a:r>
              <a:rPr lang="en-US" altLang="en-US" dirty="0"/>
              <a:t>Licensing Scheme</a:t>
            </a:r>
            <a:endParaRPr lang="en-US" altLang="en-US" dirty="0"/>
          </a:p>
          <a:p>
            <a:r>
              <a:rPr lang="en-US" altLang="en-US" dirty="0"/>
              <a:t>Road Map</a:t>
            </a:r>
            <a:endParaRPr lang="en-US" altLang="en-US" dirty="0"/>
          </a:p>
          <a:p>
            <a:r>
              <a:rPr lang="en-US" altLang="en-US" dirty="0"/>
              <a:t>Why ASL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51191"/>
            <a:ext cx="8324892" cy="413999"/>
          </a:xfrm>
        </p:spPr>
        <p:txBody>
          <a:bodyPr/>
          <a:lstStyle/>
          <a:p>
            <a:r>
              <a:rPr lang="en-US" altLang="en-US" dirty="0">
                <a:sym typeface="+mn-ea"/>
              </a:rPr>
              <a:t>Major Features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411345" y="51435"/>
            <a:ext cx="5518150" cy="49726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&amp; 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Extraction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English,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data extraction and metadata filling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 calculation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Collaboration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 and Reminder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Auditing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lvl="0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Role-based User Management</a:t>
            </a:r>
            <a:endParaRPr lang="en-US" alt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mange functions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control permissions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2" indent="-171450" algn="l" defTabSz="685800">
              <a:spcBef>
                <a:spcPts val="0"/>
              </a:spcBef>
              <a:spcAft>
                <a:spcPts val="675"/>
              </a:spcAft>
              <a:buClrTx/>
              <a:buSzTx/>
              <a:buFont typeface="Arial" panose="020B0604020202020204" pitchFamily="34" charset="0"/>
              <a:buChar char="•"/>
              <a:tabLst>
                <a:tab pos="6281420" algn="r"/>
              </a:tabLst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belongs to specific role and group(s)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algn="l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2075" y="592138"/>
            <a:ext cx="4993541" cy="5233132"/>
          </a:xfrm>
        </p:spPr>
        <p:txBody>
          <a:bodyPr>
            <a:normAutofit/>
          </a:bodyPr>
          <a:lstStyle/>
          <a:p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Folder Level Access Rights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Authorize different folder permission to respective AD group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Custom metadata for different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Upload &amp; </a:t>
            </a:r>
            <a:r>
              <a:rPr lang="en-US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Scan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scan paper files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Online Preview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 page by page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watermar</a:t>
            </a:r>
            <a:r>
              <a:rPr lang="en-US" sz="1200">
                <a:solidFill>
                  <a:schemeClr val="accent1">
                    <a:lumMod val="75000"/>
                    <a:lumOff val="25000"/>
                  </a:schemeClr>
                </a:solidFill>
              </a:rPr>
              <a:t>k</a:t>
            </a:r>
            <a:endParaRPr lang="en-US" sz="12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Summary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AI-powered Search Capabilit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</a:t>
            </a:r>
            <a:endParaRPr lang="en-US" alt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Folder Level Access Rights</a:t>
            </a:r>
            <a:endParaRPr lang="en-US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71691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Authroize read/write/delete permissions to different groups on each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Inherit folder security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Custom metadata for different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225" y="988240"/>
            <a:ext cx="3960000" cy="35752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" y="1372870"/>
            <a:ext cx="3347085" cy="3316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Upload &amp;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Scan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2095" y="72326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scan paper files into the system</a:t>
            </a: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1492250"/>
            <a:ext cx="3508375" cy="25380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5" y="1131570"/>
            <a:ext cx="4044950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Online Preview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5632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page by page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Printing/Download documents with access right control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6350" lvl="1" indent="0">
              <a:buFont typeface="Arial" panose="020B0604020202020204" pitchFamily="34" charset="0"/>
              <a:buNone/>
            </a:pP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859" y="52219"/>
            <a:ext cx="2124000" cy="47484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286510"/>
            <a:ext cx="5681345" cy="301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771525"/>
            <a:ext cx="4572000" cy="5632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Summary document by AI assistant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Open Sans SemiBold"/>
                <a:cs typeface="Open Sans SemiBold"/>
                <a:sym typeface="+mn-ea"/>
              </a:rPr>
              <a:t>Ask anything for a document</a:t>
            </a:r>
            <a:endParaRPr lang="en-US" altLang="en-US" sz="1000" dirty="0" err="1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3630" y="771672"/>
            <a:ext cx="6030480" cy="41218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-powered Search Capability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148653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User can freely add conditons to search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Each condition are joint with And/Or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Exact keyword match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Patial keyword match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NLP to translate what you want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35000" lvl="2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LLM to understand the content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8039" y="992357"/>
            <a:ext cx="1296000" cy="25961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3856991"/>
            <a:ext cx="4680000" cy="8687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925" y="951375"/>
            <a:ext cx="2981171" cy="3390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OCR and Data Extraction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English</a:t>
            </a: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Automatically data extraction and metadata filling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Confidence Score calculation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463" y="1593850"/>
            <a:ext cx="3613219" cy="32117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682" y="2026844"/>
            <a:ext cx="4284598" cy="28076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537" y="960445"/>
            <a:ext cx="1800000" cy="16819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Collaboration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Retention and Reminder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000" y="1704529"/>
            <a:ext cx="2130210" cy="27157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000" y="1491750"/>
            <a:ext cx="5652000" cy="12660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00" y="2916739"/>
            <a:ext cx="5652000" cy="1592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System Auditing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103" y="1851750"/>
            <a:ext cx="4972672" cy="22775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584" y="1851750"/>
            <a:ext cx="2928308" cy="29322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1131750"/>
            <a:ext cx="720000" cy="6178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ea"/>
              </a:rPr>
              <a:t>Role-based User Management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220" y="1132205"/>
            <a:ext cx="2952750" cy="28917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406015"/>
            <a:ext cx="5339080" cy="168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Deployment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8647430" cy="151003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On-premisis deploy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customer provide hardware platform.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GPU with at least 22GB vRAM is need to run AI-related function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and features.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1865" y="3462655"/>
            <a:ext cx="8541385" cy="9448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Hybrid Cloud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deploy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government cloud or other public cloud in container/K8S.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AI-powered computing subscription is need to run AI-related function and features.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595" y="646430"/>
            <a:ext cx="407670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2211705"/>
            <a:ext cx="335534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Licensing Scheme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1131570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Perpetual License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perpetual license, user are not limited to named users or concurrent users. One-off implementation cost and yearly maintenance cost are need to pay.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1280" y="1851660"/>
            <a:ext cx="8654415" cy="142240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Subscription License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subscription license, named users are caculated for a yearly subscription fee. There is no limited to concurrent users during the subscription period. 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7950" y="771525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ASL provide 2 pricing schemes for purchasing the solution: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Road Map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1492250"/>
            <a:ext cx="8654415" cy="142240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First Launch - 201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basic solution of document capturing and processing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Second Release - 20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20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Integrate BPM and Chatbot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Thrid Release - 2025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 focus, NLP and LLM enhanced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Coming release - 2027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085850" lvl="2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 genertive, AI agent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81280" y="772160"/>
            <a:ext cx="8681085" cy="40005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utomated Smart ECM is a continious developing solution in enterprise-level content processing domain. We will collect user feedback and wishlist to enhance the solution.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Why ASL</a:t>
            </a:r>
            <a:endParaRPr lang="en-US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91440" y="772160"/>
            <a:ext cx="8681085" cy="40830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lstStyle/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Plenty of project experience for customers in Government and Commercial: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4609" y="3291020"/>
            <a:ext cx="2867025" cy="10191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52" y="2307537"/>
            <a:ext cx="2952328" cy="8122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08" y="2331720"/>
            <a:ext cx="3457575" cy="8286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08" y="1181038"/>
            <a:ext cx="3457575" cy="7392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476" y="1172221"/>
            <a:ext cx="2376264" cy="7616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63" y="3470900"/>
            <a:ext cx="2951026" cy="73928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2037" y="3354398"/>
            <a:ext cx="962782" cy="9708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/>
          <p:nvPr/>
        </p:nvSpPr>
        <p:spPr>
          <a:xfrm>
            <a:off x="756000" y="1491750"/>
            <a:ext cx="5256000" cy="287475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Tx/>
              <a:buNone/>
              <a:tabLst>
                <a:tab pos="6214745" algn="r"/>
              </a:tabLst>
              <a:defRPr sz="15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35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Tx/>
              <a:buNone/>
              <a:tabLst>
                <a:tab pos="6281420" algn="r"/>
              </a:tabLst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6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SzPct val="100000"/>
              <a:buFontTx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49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060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Q &amp; A</a:t>
            </a:r>
            <a:endParaRPr lang="en-US" sz="3200" b="1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cwMWM0YjEyNDI2OTZjZTEwZmRlYzNiN2Y2ZmQ2OWMifQ=="/>
</p:tagLst>
</file>

<file path=ppt/theme/theme1.xml><?xml version="1.0" encoding="utf-8"?>
<a:theme xmlns:a="http://schemas.openxmlformats.org/drawingml/2006/main" name="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Optional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Optional - Sector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Optional - DevSecOps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Color palette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220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3796</Words>
  <Application>WPS 演示</Application>
  <PresentationFormat>On-screen Show (16:9)</PresentationFormat>
  <Paragraphs>168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18</vt:i4>
      </vt:variant>
    </vt:vector>
  </HeadingPairs>
  <TitlesOfParts>
    <vt:vector size="44" baseType="lpstr">
      <vt:lpstr>Arial</vt:lpstr>
      <vt:lpstr>SimSun</vt:lpstr>
      <vt:lpstr>Wingdings</vt:lpstr>
      <vt:lpstr>Open Sans SemiBold</vt:lpstr>
      <vt:lpstr>Segoe Print</vt:lpstr>
      <vt:lpstr>MingLiU-ExtB</vt:lpstr>
      <vt:lpstr>Mulish ExtraBold</vt:lpstr>
      <vt:lpstr>Arial</vt:lpstr>
      <vt:lpstr>Microsoft YaHei</vt:lpstr>
      <vt:lpstr>Arial Unicode MS</vt:lpstr>
      <vt:lpstr>Calibri</vt:lpstr>
      <vt:lpstr>DengXian</vt:lpstr>
      <vt:lpstr>PMingLiU</vt:lpstr>
      <vt:lpstr>1. Basic slides</vt:lpstr>
      <vt:lpstr>2. Optional slides</vt:lpstr>
      <vt:lpstr>3. Optional - Sector slides</vt:lpstr>
      <vt:lpstr>4. Optional - DevSecOps slides</vt:lpstr>
      <vt:lpstr>5. Color palette</vt:lpstr>
      <vt:lpstr>1_1. Basic slides</vt:lpstr>
      <vt:lpstr>2_1. Basic slides</vt:lpstr>
      <vt:lpstr>3_1. Basic slides</vt:lpstr>
      <vt:lpstr>4_1. Basic slides</vt:lpstr>
      <vt:lpstr>5_1. Basic slides</vt:lpstr>
      <vt:lpstr>6_1. Basic slides</vt:lpstr>
      <vt:lpstr>7_1. Basic slides</vt:lpstr>
      <vt:lpstr>8_1. Basic slides</vt:lpstr>
      <vt:lpstr>PowerPoint 演示文稿</vt:lpstr>
      <vt:lpstr>PowerPoint 演示文稿</vt:lpstr>
      <vt:lpstr>Major Features</vt:lpstr>
      <vt:lpstr>Folder Level Access Rights</vt:lpstr>
      <vt:lpstr>Document Upload &amp; Scan</vt:lpstr>
      <vt:lpstr>Document Online Preview</vt:lpstr>
      <vt:lpstr>AI Assistant</vt:lpstr>
      <vt:lpstr>AI-powered Search Capability</vt:lpstr>
      <vt:lpstr>OCR and Data Extraction</vt:lpstr>
      <vt:lpstr>Document Collaboration</vt:lpstr>
      <vt:lpstr>System Auditing</vt:lpstr>
      <vt:lpstr>Role-based User Management</vt:lpstr>
      <vt:lpstr>Deployment</vt:lpstr>
      <vt:lpstr>Licensing Scheme</vt:lpstr>
      <vt:lpstr>Road Map</vt:lpstr>
      <vt:lpstr>Why ASL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</dc:creator>
  <cp:lastModifiedBy>企业用户_421588755</cp:lastModifiedBy>
  <cp:revision>446</cp:revision>
  <dcterms:created xsi:type="dcterms:W3CDTF">2021-12-01T06:52:00Z</dcterms:created>
  <dcterms:modified xsi:type="dcterms:W3CDTF">2026-04-14T08:29:30Z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04EBA533ACA34AA28B9FDB9C34377A81_13</vt:lpwstr>
  </property>
  <property fmtid="{D5CDD505-2E9C-101B-9397-08002B2CF9AE}" pid="3" name="KSOProductBuildVer">
    <vt:lpwstr>2052-12.1.0.25225</vt:lpwstr>
  </property>
</Properties>
</file>